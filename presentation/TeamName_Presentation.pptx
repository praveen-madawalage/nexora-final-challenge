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D9488"/>
                </a:solidFill>
              </a:defRPr>
            </a:pPr>
            <a:r>
              <a:t>NEXORA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Climate Risk, Carbon Flow &amp; Energy Transition Analytics Platform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CodeFest Datathon Finals 2026 | Official 10-Minute Presentation</a:t>
            </a:r>
          </a:p>
          <a:p>
            <a:pPr>
              <a:defRPr sz="1400">
                <a:solidFill>
                  <a:srgbClr val="EA580C"/>
                </a:solidFill>
              </a:defRPr>
            </a:pPr>
            <a:r>
              <a:t>Team Nexora: Pravin Madawalage &amp;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Executive Problem Statement &amp; Industry Friction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The Billion-Dollar Dilemma in Carbon Volatility &amp; CBAM Border Tariffs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Macro Uncertainty: Global decarbonization is accelerating, but carbon price volatility across ETS markets creates severe hedging challenges for commodities traders.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Regulatory Shock (EU CBAM): Cross-border carbon border adjustment mechanisms penalize export economies lacking clear energy transition velocity.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Information Asymmetry: Decision-makers lack unified cross-dataset intelligence connecting policy events, fuel mix trajectories, and carbon market pricing.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Nexora Solution: An enterprise-grade climate intelligence engine providing 30-day carbon price forecasts, shock alerts, and 2030 decarbonization scenario simulations.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Data Quality Audit &amp; Zero-Leakage Pipeline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Rigorous Verification of 5 Raw Datasets (2000 - 2026)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100% Fuel Closure Verified: Energy mix percentages across all 9 fuels strictly sum to 100.0% (+/- 0.02%).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Zero Look-Ahead Leakage: In carbon prices, all rolling statistics (7d, 30d) strictly shift by 1 day [shift(1).rolling(...)].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Single Source of Truth: Merged energy mix and CO2 emissions on (iso3, year) creating country_clean.csv (1,350 rows, 0 nulls).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Scientific Missing Data Audit: NASA GISS atmospheric CO2 nulls (2,212 regional rows) correctly identified as global Mauna Loa tracking; retained without improper imputation.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Question 1.1: 30-Day Carbon Price Forecaster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Autoregressive LightGBM Outperforms Linear Baselines across 5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Chronological Test Split: Strictly evaluated on the final 30 trading days of each market (April 2026). Zero future leakage.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Performance Comparison: LightGBM achieves MAPE &lt; 3.8% across all 5 markets (EU_ETS, RGGI, California, UK_ETS, China_ETS).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Feature Importance: Shifted 1-day lag, 7-day rolling mean, and cyclical calendar features drive 85% of predictive gain.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Business Impact: Gives traders and treasuries clear 30-day forecast curves with narrow confidence bounds to hedge allowance purchases.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Question 1.2: Predicting CO2 from Fuel Mix Profile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High-Precision Decarbonization Regressor (Out-of-Sample R² = 0.88)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Decarbonization Predictor: Regressed national per-capita emissions on fuel generation shares (2000-2026).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Out-of-Sample Generalization: Trained on 2000-2020; tested on 2021-2026 out-of-sample window achieving R² = 0.88, RMSE = 0.95 t/capita.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Top Feature Drivers: Fossil Dependency Ratio and Clean Baseload Percentage (Nuclear + Hydro) exhibit strongest inverse correlation with emissions.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Reusable Asset: Serialized into models/co2_regressor_lgbm.pkl to power the Question 3 scenario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Question 2: Climate Event Shock Hypothesis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Controlled Ablation Proves Events Significantly Improve Turning-Point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Core Hypothesis Tested: Do real-world climate, extreme weather, and policy announcements improve carbon price prediction?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Controlled Experiment: Identical LightGBM models evaluated With Events vs. Without Events on the 30-day out-of-sample test horizon.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Empirical Finding: While continuous price drift is captured by lags, event features improve Directional Accuracy (predicting up/down movements) by up to +10.0%.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Key Event Driver: Policy events within trailing 14 days carry the highest informational coefficient in EU_ETS and California markets.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Question 3.1: Global Decarbonization Archetypes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Unsupervised K-Means Clustering of 50 Nations (2000 - 2026)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Archetype 1: Rapid Renewable Adopters (High solar/wind expansion, declining emissions intensity, e.g. Denmark, Germany).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Archetype 2: Nuclear &amp; Hydro Baseload Anchors (Sustained clean baseload &gt; 50%, low per-capita emissions, e.g. France, Sweden, Norway).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Archetype 3: Gas Bridge Transitioners (Replacing coal with gas; moderate transition velocity, e.g. USA, UK).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Archetype 4: Coal-Reliant Legacy Emitters (High coal dependency &gt; 45%, high border tax vulnerability under EU CBAM, e.g. India, South Africa, Poland).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Question 3.2: 2026 - 2030 Emissions Scenario Projections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Forward-Looking Projections Under BAU, Moderate, and Accelerated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Business-as-Usual (BAU): Historical trend continuation (+0.5% renew/yr); per-capita emissions fall by only 4.8% by 2030.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Moderate Transition (+1.5% renew/yr): Gradual coal retirement; per-capita emissions decrease by 16.1% by 2030.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Accelerated Transition (+3.5% renew/yr): Aggressive coal phase-out and solar/wind doubling; emissions cut by 31.6% by 2030.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Policy Takeaway: Without accelerated coal phase-out, carbon border tariffs (CBAM) will cost legacy emitters billions annually.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Question 4: Commercial Pitch - The Nexora Platform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Transforming Climate Data into High-Margin Enterprise Decision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Target Customers: ESG Asset Managers ($10T+ AUM), Commodities Traders, and Cross-Border Heavy Industrial Exporters.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Pain Point Solved: Eliminates surprise CBAM tariff hits and prevents unhedged exposure to sudden carbon price spikes.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Product Offering: Real-time SaaS Screener + Enterprise API for automated ERP integration and trading desks.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Monetization: Tiered B2B SaaS ($2,500 - $15,000/month) with recurring annual contracts + custom advisory audits.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Product Engine: Two Standardized Decision Scores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Actionable 0 - 100 Composite Metrics Powering Enterprise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Score A: Country Energy Transition Score (0 - 100): Combines annual CO2 momentum (35%), renewables percentage (30%), fossil reduction (20%), and emissions intensity (15%). Score &lt; 40 flags immediate EU CBAM tariff liability.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Score B: Market Carbon Shock Alert Score (0 - 100): Combines price upward probability (40%), trailing climate event severity (35%), and 30-day volatility (25%). Score &gt; 80 triggers Red Shock Warning.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Decision Advantage: Simplifies multi-source complex climate datasets into clear, actionable executive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Interactive MVP Prototype &amp; Architecture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Fully Functional Streamlit Dashboard Running on Localhost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Interactive UI (app/streamlit_mvp.py): Live interactive 30-day price forecaster, country transition screener, and 2030 scenario simulator.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Microservice Architecture: Modular clean data pipeline feeding LightGBM inference engines.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Live Policy Knobs: Users adjust renewable expansion rates and coal phase-out sliders to visualize customized 2026-2030 emissions reductions in real-time.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Enterprise-Ready: Built using Python, Pandas, LightGBM, and Streamlit with zero external black-box dependencies.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Conclusion: Why Nexora Delivers Winning Value</a:t>
            </a:r>
          </a:p>
          <a:p>
            <a:pPr>
              <a:defRPr sz="1400">
                <a:solidFill>
                  <a:srgbClr val="0D9488"/>
                </a:solidFill>
              </a:defRPr>
            </a:pPr>
            <a:r>
              <a:t>Complete Scientific Rigor + Enterprise Commercial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Data Rigor: 100% verified data quality audit, zero look-ahead leakage, and scientifically justified missing value handling.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Predictive Accuracy: Autoregressive LightGBM price forecaster (MAPE &lt; 3.8%) and CO2 regressor (R² = 0.88).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Empirical Hypothesis Proof: Proven turning-point accuracy gain from cross-dataset climate event joins.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</a:defRPr>
            </a:pPr>
            <a:r>
              <a:t>•  Commercial Innovation: A viable B2B software product with working MVP and clear market monetization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